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7" r:id="rId4"/>
    <p:sldId id="259" r:id="rId5"/>
    <p:sldId id="260" r:id="rId6"/>
    <p:sldId id="261" r:id="rId7"/>
    <p:sldId id="262" r:id="rId8"/>
    <p:sldId id="265" r:id="rId9"/>
    <p:sldId id="267" r:id="rId10"/>
  </p:sldIdLst>
  <p:sldSz cx="9144000" cy="5143500" type="screen16x9"/>
  <p:notesSz cx="5143500" cy="9144000"/>
  <p:embeddedFontLst>
    <p:embeddedFont>
      <p:font typeface="Adobe Caslon Pro Bold" panose="0205070206050A020403" pitchFamily="18" charset="0"/>
      <p:bold r:id="rId12"/>
      <p:boldItalic r:id="rId13"/>
    </p:embeddedFont>
    <p:embeddedFont>
      <p:font typeface="Adobe Garamond Pro Bold" panose="02020702060506020403" pitchFamily="18" charset="0"/>
      <p:bold r:id="rId14"/>
      <p:boldItalic r:id="rId15"/>
    </p:embeddedFont>
    <p:embeddedFont>
      <p:font typeface="Crimson Pro Bold" panose="020B0604020202020204" charset="0"/>
      <p:regular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4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8" y="15316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Olist E-Commerce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7" y="72832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100,000+ Brazilian marketplace orders into data-driven strategy — powered by Excel, SQL, Tableau, and Power BI.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66336" y="1277202"/>
            <a:ext cx="952054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952428" y="1343936"/>
            <a:ext cx="123914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48014" y="1303551"/>
            <a:ext cx="163398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35E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33070" y="1366234"/>
            <a:ext cx="19210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ROLES · 4 TOOLS · 1 GOAL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04AA7-4CFD-DB9D-1032-4260619514AE}"/>
              </a:ext>
            </a:extLst>
          </p:cNvPr>
          <p:cNvSpPr txBox="1"/>
          <p:nvPr/>
        </p:nvSpPr>
        <p:spPr>
          <a:xfrm>
            <a:off x="3742510" y="2002667"/>
            <a:ext cx="39449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Hari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Nidhi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Rohith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Pavani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Arpita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Padmavathi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Adobe Caslon Pro Bold" panose="0205070206050A020403" pitchFamily="18" charset="0"/>
              </a:rPr>
              <a:t>Prathamesh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9C026A-AF39-2495-8A9E-F07C236218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795DA67F-250A-E7F2-C988-18EDA32FC11C}"/>
              </a:ext>
            </a:extLst>
          </p:cNvPr>
          <p:cNvSpPr/>
          <p:nvPr/>
        </p:nvSpPr>
        <p:spPr>
          <a:xfrm>
            <a:off x="574767" y="529046"/>
            <a:ext cx="2612570" cy="336061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0E4A8-981A-8C12-425F-B0D7D8D7C4B5}"/>
              </a:ext>
            </a:extLst>
          </p:cNvPr>
          <p:cNvSpPr txBox="1"/>
          <p:nvPr/>
        </p:nvSpPr>
        <p:spPr>
          <a:xfrm>
            <a:off x="574767" y="529046"/>
            <a:ext cx="724335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Business Requirements</a:t>
            </a:r>
          </a:p>
          <a:p>
            <a:endParaRPr lang="en-IN" b="1" dirty="0"/>
          </a:p>
          <a:p>
            <a:r>
              <a:rPr lang="en-IN" b="1" dirty="0"/>
              <a:t>📈 Sales Performance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monthly sales and revenue trends.</a:t>
            </a:r>
          </a:p>
          <a:p>
            <a:r>
              <a:rPr lang="en-IN" b="1" dirty="0"/>
              <a:t>🛍️ Product Performance</a:t>
            </a:r>
            <a:br>
              <a:rPr lang="en-IN" dirty="0"/>
            </a:br>
            <a:r>
              <a:rPr lang="en-IN" dirty="0"/>
              <a:t>Identify top-performing product categories.</a:t>
            </a:r>
          </a:p>
          <a:p>
            <a:r>
              <a:rPr lang="en-IN" b="1" dirty="0"/>
              <a:t>🚚 Delivery Performance</a:t>
            </a:r>
            <a:br>
              <a:rPr lang="en-IN" dirty="0"/>
            </a:br>
            <a:r>
              <a:rPr lang="en-IN" dirty="0"/>
              <a:t>Measure on-time and late deliveries.</a:t>
            </a:r>
          </a:p>
          <a:p>
            <a:r>
              <a:rPr lang="en-IN" b="1" dirty="0"/>
              <a:t>👥 Customer </a:t>
            </a:r>
            <a:r>
              <a:rPr lang="en-IN" b="1" dirty="0" err="1"/>
              <a:t>Behavior</a:t>
            </a:r>
            <a:br>
              <a:rPr lang="en-IN" dirty="0"/>
            </a:br>
            <a:r>
              <a:rPr lang="en-IN" dirty="0"/>
              <a:t>Understand customer purchasing patterns.</a:t>
            </a:r>
          </a:p>
          <a:p>
            <a:r>
              <a:rPr lang="en-IN" b="1" dirty="0"/>
              <a:t>📊 Business Intelligence</a:t>
            </a:r>
            <a:br>
              <a:rPr lang="en-IN" dirty="0"/>
            </a:br>
            <a:r>
              <a:rPr lang="en-IN" dirty="0"/>
              <a:t>Enable data-driven decision-making through interactive dashboards.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AEAE64-71BD-79A4-CF5D-F3CED1B576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53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1419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Team Challenge: Scaling Data-Driven Decisions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55725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specialists, one unified objective — turn raw e-commerce data into decisions that move the needle for marketing and operations.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82626"/>
            <a:ext cx="2639616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9320" y="1615827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285" y="1721793"/>
            <a:ext cx="173385" cy="173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9320" y="2117601"/>
            <a:ext cx="2373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Lead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35299" y="1482626"/>
            <a:ext cx="2639690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385319" y="1615827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1285" y="1721793"/>
            <a:ext cx="173385" cy="1733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5319" y="2117601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endParaRPr lang="en-US" sz="1250" b="1" dirty="0"/>
          </a:p>
        </p:txBody>
      </p:sp>
      <p:sp>
        <p:nvSpPr>
          <p:cNvPr id="12" name="Shape 8"/>
          <p:cNvSpPr/>
          <p:nvPr/>
        </p:nvSpPr>
        <p:spPr>
          <a:xfrm>
            <a:off x="6008191" y="1482626"/>
            <a:ext cx="2639690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6141393" y="1615827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7358" y="1721793"/>
            <a:ext cx="173385" cy="1733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41393" y="2117601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6119" y="2567880"/>
            <a:ext cx="2639616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29320" y="2701082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285" y="2807047"/>
            <a:ext cx="173385" cy="1733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9320" y="3202856"/>
            <a:ext cx="2373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250" b="1" dirty="0">
                <a:solidFill>
                  <a:srgbClr val="443728"/>
                </a:solidFill>
                <a:latin typeface="Crimson Pro Bold" pitchFamily="34" charset="0"/>
              </a:rPr>
              <a:t>Business Intelligence Dashboard</a:t>
            </a:r>
            <a:endParaRPr lang="en-US" sz="1250" b="1" dirty="0">
              <a:solidFill>
                <a:srgbClr val="443728"/>
              </a:solidFill>
              <a:latin typeface="Crimson Pro Bold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252118" y="2567880"/>
            <a:ext cx="2639690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3385319" y="2701082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1285" y="2807047"/>
            <a:ext cx="173385" cy="17338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85319" y="3202856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Architect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08191" y="2567880"/>
            <a:ext cx="2639690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6141393" y="2701082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7358" y="2807047"/>
            <a:ext cx="173385" cy="17338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41393" y="3202856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Insights Strategist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96081" y="3681810"/>
            <a:ext cx="8151763" cy="968871"/>
          </a:xfrm>
          <a:prstGeom prst="roundRect">
            <a:avLst>
              <a:gd name="adj" fmla="val 5569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629320" y="3786336"/>
            <a:ext cx="385390" cy="385390"/>
          </a:xfrm>
          <a:prstGeom prst="ellipse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285" y="3892302"/>
            <a:ext cx="173385" cy="17338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9320" y="4288110"/>
            <a:ext cx="78853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</a:rPr>
              <a:t>Final Dashboard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F5857A2C-3AC7-6814-6E58-A02175DEC8D8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18289"/>
          <a:ext cx="7886700" cy="36576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028766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42435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55C03B4-5B10-7669-6CA7-8C387FD81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727780"/>
              </p:ext>
            </p:extLst>
          </p:nvPr>
        </p:nvGraphicFramePr>
        <p:xfrm>
          <a:off x="3268936" y="2076916"/>
          <a:ext cx="2622872" cy="276860"/>
        </p:xfrm>
        <a:graphic>
          <a:graphicData uri="http://schemas.openxmlformats.org/drawingml/2006/table">
            <a:tbl>
              <a:tblPr/>
              <a:tblGrid>
                <a:gridCol w="2622872">
                  <a:extLst>
                    <a:ext uri="{9D8B030D-6E8A-4147-A177-3AD203B41FA5}">
                      <a16:colId xmlns:a16="http://schemas.microsoft.com/office/drawing/2014/main" val="417153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4000"/>
                        </a:lnSpc>
                        <a:buNone/>
                      </a:pPr>
                      <a:r>
                        <a:rPr lang="en-IN" sz="1250" b="1" kern="1200" dirty="0">
                          <a:solidFill>
                            <a:srgbClr val="443728"/>
                          </a:solidFill>
                          <a:latin typeface="Crimson Pro Bold" pitchFamily="34" charset="0"/>
                          <a:ea typeface="+mn-ea"/>
                          <a:cs typeface="+mn-cs"/>
                        </a:rPr>
                        <a:t>Data Analysis Using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662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1CE75E9-3547-8E90-340B-875991B55033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18289"/>
          <a:ext cx="7886700" cy="36576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239533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975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2DC2689-7204-E5C2-2289-8F7DFD215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72396"/>
              </p:ext>
            </p:extLst>
          </p:nvPr>
        </p:nvGraphicFramePr>
        <p:xfrm>
          <a:off x="6008192" y="2020024"/>
          <a:ext cx="2737392" cy="356806"/>
        </p:xfrm>
        <a:graphic>
          <a:graphicData uri="http://schemas.openxmlformats.org/drawingml/2006/table">
            <a:tbl>
              <a:tblPr/>
              <a:tblGrid>
                <a:gridCol w="2737392">
                  <a:extLst>
                    <a:ext uri="{9D8B030D-6E8A-4147-A177-3AD203B41FA5}">
                      <a16:colId xmlns:a16="http://schemas.microsoft.com/office/drawing/2014/main" val="1159142112"/>
                    </a:ext>
                  </a:extLst>
                </a:gridCol>
              </a:tblGrid>
              <a:tr h="3568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4000"/>
                        </a:lnSpc>
                        <a:buNone/>
                      </a:pPr>
                      <a:r>
                        <a:rPr lang="en-IN" sz="1250" b="1" kern="1200" dirty="0">
                          <a:solidFill>
                            <a:srgbClr val="443728"/>
                          </a:solidFill>
                          <a:latin typeface="Crimson Pro Bold" pitchFamily="34" charset="0"/>
                          <a:ea typeface="+mn-ea"/>
                          <a:cs typeface="+mn-cs"/>
                        </a:rPr>
                        <a:t>Data Cleaning &amp; Preparation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761732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E8CDF386-B94C-5625-A8C0-1816D76718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1">
            <a:extLst>
              <a:ext uri="{FF2B5EF4-FFF2-40B4-BE49-F238E27FC236}">
                <a16:creationId xmlns:a16="http://schemas.microsoft.com/office/drawing/2014/main" id="{2B04C94E-0F0E-80CF-AE4B-F930C1FA9A22}"/>
              </a:ext>
            </a:extLst>
          </p:cNvPr>
          <p:cNvSpPr/>
          <p:nvPr/>
        </p:nvSpPr>
        <p:spPr>
          <a:xfrm>
            <a:off x="430828" y="4218519"/>
            <a:ext cx="2718822" cy="69874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wR="49619" hR="49619" stAng="0" swAng="5400000"/>
                <a:lnTo>
                  <a:pt x="49619" y="1043657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74034A32-1A63-B5D3-FFE0-4839346F9F53}"/>
              </a:ext>
            </a:extLst>
          </p:cNvPr>
          <p:cNvSpPr/>
          <p:nvPr/>
        </p:nvSpPr>
        <p:spPr>
          <a:xfrm>
            <a:off x="6264297" y="4112755"/>
            <a:ext cx="2273995" cy="69874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wR="49619" hR="49619" stAng="0" swAng="5400000"/>
                <a:lnTo>
                  <a:pt x="49619" y="1043657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CBDA55CA-A15A-E6DE-DDB3-985CEDC896E3}"/>
              </a:ext>
            </a:extLst>
          </p:cNvPr>
          <p:cNvSpPr/>
          <p:nvPr/>
        </p:nvSpPr>
        <p:spPr>
          <a:xfrm>
            <a:off x="3473969" y="4182698"/>
            <a:ext cx="2315245" cy="69874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wR="49619" hR="49619" stAng="0" swAng="5400000"/>
                <a:lnTo>
                  <a:pt x="49619" y="1043657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496119" y="403771"/>
            <a:ext cx="444847" cy="158055"/>
          </a:xfrm>
          <a:prstGeom prst="roundRect">
            <a:avLst>
              <a:gd name="adj" fmla="val 22132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8552" y="434950"/>
            <a:ext cx="777180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1</a:t>
            </a:r>
            <a:endParaRPr lang="en-US" sz="65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B64CDFA3-32A3-98F3-1844-23EB9BBF7911}"/>
              </a:ext>
            </a:extLst>
          </p:cNvPr>
          <p:cNvSpPr/>
          <p:nvPr/>
        </p:nvSpPr>
        <p:spPr>
          <a:xfrm>
            <a:off x="252687" y="2327780"/>
            <a:ext cx="3031503" cy="787711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wR="49619" hR="49619" stAng="0" swAng="5400000"/>
                <a:lnTo>
                  <a:pt x="49619" y="1043657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96119" y="592336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Preparation with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Excel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2713" y="1490327"/>
            <a:ext cx="268805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Role</a:t>
            </a: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: </a:t>
            </a:r>
            <a:r>
              <a:rPr lang="en-IN" sz="1100" b="1" dirty="0"/>
              <a:t>Data Cleaning &amp; </a:t>
            </a:r>
          </a:p>
          <a:p>
            <a:pPr>
              <a:lnSpc>
                <a:spcPct val="104000"/>
              </a:lnSpc>
            </a:pPr>
            <a:r>
              <a:rPr lang="en-IN" sz="1100" b="1" dirty="0"/>
              <a:t>Preparation through </a:t>
            </a:r>
            <a:r>
              <a:rPr lang="en-IN" sz="1100" b="1" dirty="0" err="1"/>
              <a:t>exel</a:t>
            </a:r>
            <a:r>
              <a:rPr lang="en-IN" sz="1100" b="1" dirty="0"/>
              <a:t> </a:t>
            </a:r>
            <a:endParaRPr lang="en-US" sz="1100" b="1" dirty="0"/>
          </a:p>
        </p:txBody>
      </p:sp>
      <p:sp>
        <p:nvSpPr>
          <p:cNvPr id="6" name="Text 4"/>
          <p:cNvSpPr/>
          <p:nvPr/>
        </p:nvSpPr>
        <p:spPr>
          <a:xfrm>
            <a:off x="496119" y="2501057"/>
            <a:ext cx="268805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foundation of every reliable analysis. Clean, standardised data ensures every downstream insight is trustworthy.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773" y="4245583"/>
            <a:ext cx="156121" cy="156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0775" y="3406432"/>
            <a:ext cx="231524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4190" y="4245583"/>
            <a:ext cx="156121" cy="1561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6119" y="4291127"/>
            <a:ext cx="23152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583484" y="4242346"/>
            <a:ext cx="23152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Pivot Tables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3269" y="4245583"/>
            <a:ext cx="156121" cy="156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83484" y="4450854"/>
            <a:ext cx="231524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Visualise revenue concentration and category-level performance at a glance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332562" y="4242346"/>
            <a:ext cx="23152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332562" y="4450854"/>
            <a:ext cx="231524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outliers, data gaps, and initial trends before deeper modelling</a:t>
            </a:r>
            <a:endParaRPr lang="en-US" sz="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C17B55-CF19-47E9-4651-85B7572DF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732" y="162496"/>
            <a:ext cx="5326172" cy="3885653"/>
          </a:xfrm>
          <a:prstGeom prst="rect">
            <a:avLst/>
          </a:prstGeom>
        </p:spPr>
      </p:pic>
      <p:sp>
        <p:nvSpPr>
          <p:cNvPr id="28" name="Text 4">
            <a:extLst>
              <a:ext uri="{FF2B5EF4-FFF2-40B4-BE49-F238E27FC236}">
                <a16:creationId xmlns:a16="http://schemas.microsoft.com/office/drawing/2014/main" id="{7B07679F-4379-75B4-68B9-7F5608D6A1BB}"/>
              </a:ext>
            </a:extLst>
          </p:cNvPr>
          <p:cNvSpPr/>
          <p:nvPr/>
        </p:nvSpPr>
        <p:spPr>
          <a:xfrm>
            <a:off x="481852" y="4493454"/>
            <a:ext cx="2688059" cy="409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6000"/>
              </a:lnSpc>
            </a:pPr>
            <a:r>
              <a:rPr lang="en-US" sz="8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Standardise</a:t>
            </a: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formats, remove duplicates, and handle nulls across all source files</a:t>
            </a:r>
            <a:endParaRPr lang="en-US" sz="8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39D1B4EA-3BDF-46DB-0A6A-3DDCC381D302}"/>
              </a:ext>
            </a:extLst>
          </p:cNvPr>
          <p:cNvSpPr/>
          <p:nvPr/>
        </p:nvSpPr>
        <p:spPr>
          <a:xfrm>
            <a:off x="3473969" y="4450853"/>
            <a:ext cx="231524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1805E8-38AF-C7E8-233B-6A0868DF44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611163"/>
            <a:ext cx="606028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81174" y="653653"/>
            <a:ext cx="8931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88322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Validation &amp; Logic with SQL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96119" y="1981795"/>
            <a:ext cx="4722763" cy="2550468"/>
          </a:xfrm>
          <a:prstGeom prst="roundRect">
            <a:avLst>
              <a:gd name="adj" fmla="val 2335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71760" y="1996083"/>
            <a:ext cx="2356619" cy="1497285"/>
          </a:xfrm>
          <a:custGeom>
            <a:avLst/>
            <a:gdLst/>
            <a:ahLst/>
            <a:cxnLst/>
            <a:rect l="l" t="t" r="r" b="b"/>
            <a:pathLst>
              <a:path w="2356619" h="1497285">
                <a:moveTo>
                  <a:pt x="49619" y="0"/>
                </a:moveTo>
                <a:lnTo>
                  <a:pt x="2356619" y="0"/>
                </a:lnTo>
                <a:lnTo>
                  <a:pt x="2356619" y="1497285"/>
                </a:lnTo>
                <a:lnTo>
                  <a:pt x="0" y="1497285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642640" y="2128317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Role: </a:t>
            </a:r>
            <a:r>
              <a:rPr lang="en-IN" sz="1400" b="1" dirty="0"/>
              <a:t>Data Analysis Using SQL</a:t>
            </a:r>
            <a:endParaRPr lang="en-US" sz="1350" b="1" dirty="0"/>
          </a:p>
        </p:txBody>
      </p:sp>
      <p:sp>
        <p:nvSpPr>
          <p:cNvPr id="9" name="Text 6"/>
          <p:cNvSpPr/>
          <p:nvPr/>
        </p:nvSpPr>
        <p:spPr>
          <a:xfrm>
            <a:off x="642640" y="2434828"/>
            <a:ext cx="41579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33000"/>
              </a:lnSpc>
            </a:pPr>
            <a:r>
              <a:rPr lang="en-GB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 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                                                                                                </a:t>
            </a:r>
          </a:p>
          <a:p>
            <a:pPr>
              <a:lnSpc>
                <a:spcPct val="133000"/>
              </a:lnSpc>
            </a:pP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SQL to clean and </a:t>
            </a:r>
            <a:r>
              <a:rPr lang="en-GB" sz="11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</a:t>
            </a:r>
            <a:r>
              <a:rPr lang="en-GB" sz="11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Olist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e-commerce </a:t>
            </a:r>
            <a:r>
              <a:rPr lang="en-GB" sz="11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datasetPerformed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JOINs to combine multiple </a:t>
            </a:r>
            <a:r>
              <a:rPr lang="en-GB" sz="11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tables.Used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 BY and aggregate functions     (SUM, COUNT, AVG) to calculate </a:t>
            </a:r>
            <a:r>
              <a:rPr lang="en-GB" sz="11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KPIs.Applied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 conditions and date functions to filter and </a:t>
            </a:r>
            <a:r>
              <a:rPr lang="en-GB" sz="11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</a:t>
            </a:r>
            <a:r>
              <a:rPr lang="en-GB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</a:t>
            </a:r>
            <a:r>
              <a:rPr lang="en-GB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99259" y="2128317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99259" y="2434828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0881" y="3483843"/>
            <a:ext cx="4713238" cy="104365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wR="49619" hR="49619" stAng="0" swAng="5400000"/>
                <a:lnTo>
                  <a:pt x="49619" y="1043657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500881" y="3483843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2640" y="362560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</a:t>
            </a:r>
            <a:r>
              <a:rPr lang="en-US" sz="1350" b="1" dirty="0" err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Acheivements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2640" y="393211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B72DDF-F248-89DE-B616-D0F5F00BCC38}"/>
              </a:ext>
            </a:extLst>
          </p:cNvPr>
          <p:cNvSpPr txBox="1"/>
          <p:nvPr/>
        </p:nvSpPr>
        <p:spPr>
          <a:xfrm>
            <a:off x="539279" y="3853075"/>
            <a:ext cx="453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Extracted meaningful business insights from the </a:t>
            </a:r>
            <a:r>
              <a:rPr lang="en-GB" sz="9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dataset.Improved</a:t>
            </a:r>
            <a:r>
              <a:rPr lang="en-GB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 accuracy through validation and query testing</a:t>
            </a:r>
            <a:endParaRPr lang="en-IN" sz="9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822"/>
            <a:ext cx="340519" cy="121072"/>
          </a:xfrm>
          <a:prstGeom prst="roundRect">
            <a:avLst>
              <a:gd name="adj" fmla="val 22131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3892" y="430709"/>
            <a:ext cx="702171" cy="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45827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Visual Intelligence with Tableau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960492" y="1051582"/>
            <a:ext cx="2726680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Role: </a:t>
            </a:r>
            <a:r>
              <a:rPr lang="en-IN" sz="2750" b="1" dirty="0"/>
              <a:t>Interactive Data</a:t>
            </a:r>
          </a:p>
          <a:p>
            <a:pPr>
              <a:lnSpc>
                <a:spcPct val="104000"/>
              </a:lnSpc>
            </a:pPr>
            <a:r>
              <a:rPr lang="en-IN" sz="2750" b="1" dirty="0"/>
              <a:t> Visualization</a:t>
            </a:r>
            <a:endParaRPr lang="en-US" sz="2750" b="1" dirty="0"/>
          </a:p>
        </p:txBody>
      </p:sp>
      <p:sp>
        <p:nvSpPr>
          <p:cNvPr id="7" name="Text 4"/>
          <p:cNvSpPr/>
          <p:nvPr/>
        </p:nvSpPr>
        <p:spPr>
          <a:xfrm>
            <a:off x="5988620" y="2087127"/>
            <a:ext cx="2726680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 complex datasets into intuitive, stakeholder-ready dashboards that drive decisions at a glance.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77580"/>
            <a:ext cx="2687389" cy="7590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91965" y="4037335"/>
            <a:ext cx="95622" cy="1195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85341" y="4296519"/>
            <a:ext cx="250894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Geographic Heat Maps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85341" y="4448026"/>
            <a:ext cx="2508945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regional sales concentration and identify underperforming states</a:t>
            </a:r>
            <a:endParaRPr lang="en-US" sz="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8305" y="3977580"/>
            <a:ext cx="2687389" cy="7590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4152" y="4037335"/>
            <a:ext cx="95622" cy="1195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3317528" y="4296519"/>
            <a:ext cx="250894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Dual-Axis Charts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3317528" y="4448026"/>
            <a:ext cx="2508945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Reveal the correlation between seasonality peaks and revenue trends</a:t>
            </a:r>
            <a:endParaRPr lang="en-US" sz="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0492" y="3977580"/>
            <a:ext cx="2687389" cy="7590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56338" y="4037335"/>
            <a:ext cx="95622" cy="1195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049714" y="4296519"/>
            <a:ext cx="250894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Executive Dashboards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6049714" y="4448026"/>
            <a:ext cx="2508945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High-level views designed for non-technical stakeholders and leadership</a:t>
            </a:r>
            <a:endParaRPr lang="en-US" sz="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B37CCB-6551-6925-E50F-63DFE4D76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2" y="911761"/>
            <a:ext cx="5750351" cy="303594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04A99BA-109B-20B9-C7EB-99BA5A51FE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06708" y="77662"/>
            <a:ext cx="492175" cy="174947"/>
          </a:xfrm>
          <a:prstGeom prst="roundRect">
            <a:avLst>
              <a:gd name="adj" fmla="val 22122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93252" y="135526"/>
            <a:ext cx="811262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4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3252" y="252609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Interactive Reporting with Power BI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925118" y="149401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925119" y="173005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941276" y="2492284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925119" y="275540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4007" y="2701417"/>
            <a:ext cx="230312" cy="2303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4003" y="299786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KPIs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274004" y="3203405"/>
            <a:ext cx="2770733" cy="18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monitoring of operational metrics to support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rapid decision-making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3737070"/>
            <a:ext cx="230312" cy="2303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86500" y="4038234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Deep-Dive Filters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6286499" y="4372629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slicers enabling granular analysis by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region, category, and timeframe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FA775C-D9B4-2530-E266-821E56C65F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76"/>
          <a:stretch>
            <a:fillRect/>
          </a:stretch>
        </p:blipFill>
        <p:spPr>
          <a:xfrm>
            <a:off x="99262" y="667682"/>
            <a:ext cx="6007861" cy="4067469"/>
          </a:xfrm>
          <a:prstGeom prst="rect">
            <a:avLst/>
          </a:prstGeom>
        </p:spPr>
      </p:pic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F98CA18A-CDDF-BD2A-E66F-EF01E8B51E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818178"/>
            <a:ext cx="230312" cy="230312"/>
          </a:xfrm>
          <a:prstGeom prst="rect">
            <a:avLst/>
          </a:prstGeom>
        </p:spPr>
      </p:pic>
      <p:sp>
        <p:nvSpPr>
          <p:cNvPr id="35" name="Text 3">
            <a:extLst>
              <a:ext uri="{FF2B5EF4-FFF2-40B4-BE49-F238E27FC236}">
                <a16:creationId xmlns:a16="http://schemas.microsoft.com/office/drawing/2014/main" id="{6D8EC0CE-8199-B2C1-F23B-75B78FEA5B4A}"/>
              </a:ext>
            </a:extLst>
          </p:cNvPr>
          <p:cNvSpPr/>
          <p:nvPr/>
        </p:nvSpPr>
        <p:spPr>
          <a:xfrm>
            <a:off x="6302658" y="1097703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360A1213-7F09-2E10-6904-C34CC11C3B5E}"/>
              </a:ext>
            </a:extLst>
          </p:cNvPr>
          <p:cNvSpPr/>
          <p:nvPr/>
        </p:nvSpPr>
        <p:spPr>
          <a:xfrm>
            <a:off x="6302658" y="1314595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AOV, late-delivery rates, and category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growth with precision</a:t>
            </a:r>
            <a:endParaRPr lang="en-US" sz="900" dirty="0"/>
          </a:p>
        </p:txBody>
      </p:sp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1CBEA428-10F2-40BF-3BDC-ADBF1B51C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4004" y="1751949"/>
            <a:ext cx="230312" cy="230312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6369D79D-0899-637C-4640-4F7D24287896}"/>
              </a:ext>
            </a:extLst>
          </p:cNvPr>
          <p:cNvSpPr/>
          <p:nvPr/>
        </p:nvSpPr>
        <p:spPr>
          <a:xfrm>
            <a:off x="6274004" y="204303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Multi-Page Model</a:t>
            </a:r>
            <a:endParaRPr lang="en-US" sz="11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87D52B28-F179-646B-FD90-6BEE68776A11}"/>
              </a:ext>
            </a:extLst>
          </p:cNvPr>
          <p:cNvSpPr/>
          <p:nvPr/>
        </p:nvSpPr>
        <p:spPr>
          <a:xfrm>
            <a:off x="6286500" y="2254721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comprehensive business model with drill-through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capabilities for Sales and Marketing</a:t>
            </a:r>
            <a:endParaRPr lang="en-US" sz="9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A31AC13-DFA5-3F17-FAFF-28A88767BB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39455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75618"/>
            <a:ext cx="5192688" cy="29424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6136" y="1090092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6136" y="1392436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872162" y="1395471"/>
            <a:ext cx="3128147" cy="3163466"/>
          </a:xfrm>
          <a:prstGeom prst="roundRect">
            <a:avLst>
              <a:gd name="adj" fmla="val 4388"/>
            </a:avLst>
          </a:prstGeom>
          <a:solidFill>
            <a:srgbClr val="EBE2E0"/>
          </a:solidFill>
          <a:ln/>
        </p:spPr>
        <p:txBody>
          <a:bodyPr/>
          <a:lstStyle/>
          <a:p>
            <a:r>
              <a:rPr lang="en-GB" dirty="0"/>
              <a:t>This project demonstrates an end-to-end data analytics workflow using SQL, Excel, Tableau, and Power BI. The analysis transformed raw e-commerce data into actionable insights that can help improve sales performance, customer satisfaction, and operational decision-making.</a:t>
            </a:r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6399088" y="2387203"/>
            <a:ext cx="2129507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996136" y="3568005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FD8C4-BCFD-B480-AC63-BA5F39B0FD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ED14D-31DE-5908-0EB5-CFE5834D37AC}"/>
              </a:ext>
            </a:extLst>
          </p:cNvPr>
          <p:cNvSpPr txBox="1"/>
          <p:nvPr/>
        </p:nvSpPr>
        <p:spPr>
          <a:xfrm>
            <a:off x="2090057" y="1286691"/>
            <a:ext cx="4892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Adobe Garamond Pro Bold" panose="02020702060506020403" pitchFamily="18" charset="0"/>
              </a:rPr>
              <a:t>Thank you !!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3BD3C-582E-4313-9FDF-187DA7CD44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01000" y="4839789"/>
            <a:ext cx="1071154" cy="303711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25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470</Words>
  <Application>Microsoft Office PowerPoint</Application>
  <PresentationFormat>On-screen Show (16:9)</PresentationFormat>
  <Paragraphs>84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Open Sans</vt:lpstr>
      <vt:lpstr>Adobe Garamond Pro Bold</vt:lpstr>
      <vt:lpstr>Adobe Caslon Pro Bold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Prathamesh Mundhe</cp:lastModifiedBy>
  <cp:revision>6</cp:revision>
  <dcterms:created xsi:type="dcterms:W3CDTF">2026-08-01T18:48:57Z</dcterms:created>
  <dcterms:modified xsi:type="dcterms:W3CDTF">2026-08-04T17:15:57Z</dcterms:modified>
</cp:coreProperties>
</file>